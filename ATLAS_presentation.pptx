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0800000">
            <a:off x="6858000" y="0"/>
            <a:ext cx="5333695" cy="6858000"/>
          </a:xfrm>
          <a:prstGeom prst="rtTriangle">
            <a:avLst/>
          </a:prstGeom>
          <a:solidFill>
            <a:srgbClr val="16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137160" cy="6858000"/>
          </a:xfrm>
          <a:prstGeom prst="rect">
            <a:avLst/>
          </a:prstGeom>
          <a:solidFill>
            <a:srgbClr val="E2B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2308" y="1371600"/>
            <a:ext cx="5943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ATLAS</a:t>
            </a:r>
          </a:p>
          <a:p>
            <a:pPr>
              <a:spcBef>
                <a:spcPts val="1200"/>
              </a:spcBef>
              <a:defRPr sz="2000" b="1">
                <a:solidFill>
                  <a:srgbClr val="94A3B8"/>
                </a:solidFill>
                <a:latin typeface="Calibri"/>
              </a:defRPr>
            </a:pPr>
            <a:r>
              <a:rPr dirty="0"/>
              <a:t>Evidence-Grounded Conversational Hybrid Search</a:t>
            </a:r>
            <a:endParaRPr lang="en-US" dirty="0"/>
          </a:p>
          <a:p>
            <a:pPr>
              <a:spcBef>
                <a:spcPts val="1200"/>
              </a:spcBef>
              <a:defRPr sz="2000" b="1">
                <a:solidFill>
                  <a:srgbClr val="94A3B8"/>
                </a:solidFill>
                <a:latin typeface="Calibri"/>
              </a:defRPr>
            </a:pPr>
            <a:endParaRPr lang="en-US" dirty="0"/>
          </a:p>
          <a:p>
            <a:pPr>
              <a:spcBef>
                <a:spcPts val="1200"/>
              </a:spcBef>
              <a:defRPr sz="2000" b="1">
                <a:solidFill>
                  <a:srgbClr val="94A3B8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5080236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rPr dirty="0"/>
              <a:t>Department of Creative Technologies, Air University, Islamabad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011680"/>
            <a:ext cx="3840480" cy="29260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47472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The Goal: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Solve pronoun drift and generative hallucinations in conversational search.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The Core: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7-pillar pipeline executing dual-channel retrieval, RRF rank fusion, and a strict 4-tier validation gate.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2CC3DA-05FE-C319-425F-E046F6AEC544}"/>
              </a:ext>
            </a:extLst>
          </p:cNvPr>
          <p:cNvSpPr txBox="1"/>
          <p:nvPr/>
        </p:nvSpPr>
        <p:spPr>
          <a:xfrm>
            <a:off x="944879" y="3409613"/>
            <a:ext cx="3446367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Group Members: 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Asma </a:t>
            </a:r>
            <a:r>
              <a:rPr lang="en-US" dirty="0" err="1"/>
              <a:t>Shoukat</a:t>
            </a:r>
            <a:r>
              <a:rPr lang="en-US" dirty="0"/>
              <a:t>    241418 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Amna-</a:t>
            </a:r>
            <a:r>
              <a:rPr lang="en-US" dirty="0" err="1"/>
              <a:t>tuz</a:t>
            </a:r>
            <a:r>
              <a:rPr lang="en-US" dirty="0"/>
              <a:t>-Zahra  241382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Context &amp; Multi-Turn RAG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15032"/>
            <a:ext cx="5303520" cy="3626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Dialogue History Challenge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Standard RAG Limit: </a:t>
            </a:r>
            <a:r>
              <a:rPr dirty="0">
                <a:solidFill>
                  <a:srgbClr val="94A3B8"/>
                </a:solidFill>
                <a:latin typeface="Calibri"/>
              </a:rPr>
              <a:t>Traditional systems treat each user query as a standalone statement. In natural conversations, questions are incomplete and context-dependent.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Coreference Pronoun Drift: </a:t>
            </a:r>
            <a:r>
              <a:rPr dirty="0">
                <a:solidFill>
                  <a:srgbClr val="94A3B8"/>
                </a:solidFill>
                <a:latin typeface="Calibri"/>
              </a:rPr>
              <a:t>Queries like 'what are its goals?' fail in vector search because pronouns cannot be mapped back to their original subjects.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Naïve Stacking Flaw: </a:t>
            </a:r>
            <a:r>
              <a:rPr dirty="0">
                <a:solidFill>
                  <a:srgbClr val="94A3B8"/>
                </a:solidFill>
                <a:latin typeface="Calibri"/>
              </a:rPr>
              <a:t>Simply appending history increases query noise and causes vector drift towards older turns, degrading search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9535" y="1691640"/>
            <a:ext cx="5303520" cy="3349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Hallucination &amp; Sufficiency Gap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Speculation Hazard: </a:t>
            </a:r>
            <a:r>
              <a:rPr dirty="0">
                <a:solidFill>
                  <a:srgbClr val="94A3B8"/>
                </a:solidFill>
                <a:latin typeface="Calibri"/>
              </a:rPr>
              <a:t>LLMs confidently fabricate details and answers when the retrieval engine delivers irrelevant or insufficient context.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Abstention Deficit: </a:t>
            </a:r>
            <a:r>
              <a:rPr dirty="0">
                <a:solidFill>
                  <a:srgbClr val="94A3B8"/>
                </a:solidFill>
                <a:latin typeface="Calibri"/>
              </a:rPr>
              <a:t>Standard systems lack a reliable safety gate to recognize evidence gaps, preventing honest 'I don't know' responses.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Black-Box Opacity: </a:t>
            </a:r>
            <a:r>
              <a:rPr dirty="0">
                <a:solidFill>
                  <a:srgbClr val="94A3B8"/>
                </a:solidFill>
                <a:latin typeface="Calibri"/>
              </a:rPr>
              <a:t>Generative responses lack sentence highlights or citation trace logs, making outputs difficult to audit by operators.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DATABASE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Dataset &amp; Preprocessing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25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Evaluation Setup &amp; Preprocessing</a:t>
            </a:r>
          </a:p>
          <a:p>
            <a:pPr>
              <a:spcAft>
                <a:spcPts val="10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IBM Mt-RAG Benchmark: </a:t>
            </a:r>
            <a:r>
              <a:rPr dirty="0">
                <a:solidFill>
                  <a:srgbClr val="94A3B8"/>
                </a:solidFill>
                <a:latin typeface="Calibri"/>
              </a:rPr>
              <a:t>Evaluated against the </a:t>
            </a:r>
            <a:r>
              <a:rPr dirty="0" err="1">
                <a:solidFill>
                  <a:srgbClr val="94A3B8"/>
                </a:solidFill>
                <a:latin typeface="Calibri"/>
              </a:rPr>
              <a:t>SemEval</a:t>
            </a:r>
            <a:r>
              <a:rPr dirty="0">
                <a:solidFill>
                  <a:srgbClr val="94A3B8"/>
                </a:solidFill>
                <a:latin typeface="Calibri"/>
              </a:rPr>
              <a:t> 2026 multi-turn conversational benchmark containing 366,479 raw text passages.</a:t>
            </a:r>
          </a:p>
          <a:p>
            <a:pPr>
              <a:spcAft>
                <a:spcPts val="10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Sentence Segmentation: </a:t>
            </a:r>
            <a:r>
              <a:rPr dirty="0">
                <a:solidFill>
                  <a:srgbClr val="94A3B8"/>
                </a:solidFill>
                <a:latin typeface="Calibri"/>
              </a:rPr>
              <a:t>Passages are split into sentences using regex </a:t>
            </a:r>
            <a:r>
              <a:rPr dirty="0" err="1">
                <a:solidFill>
                  <a:srgbClr val="94A3B8"/>
                </a:solidFill>
                <a:latin typeface="Calibri"/>
              </a:rPr>
              <a:t>segmenters</a:t>
            </a:r>
            <a:r>
              <a:rPr dirty="0">
                <a:solidFill>
                  <a:srgbClr val="94A3B8"/>
                </a:solidFill>
                <a:latin typeface="Calibri"/>
              </a:rPr>
              <a:t>. Cleans double spaces and normalizes special characters.</a:t>
            </a:r>
          </a:p>
          <a:p>
            <a:pPr>
              <a:spcAft>
                <a:spcPts val="10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Dense Embeddings: </a:t>
            </a:r>
            <a:r>
              <a:rPr dirty="0">
                <a:solidFill>
                  <a:srgbClr val="94A3B8"/>
                </a:solidFill>
                <a:latin typeface="Calibri"/>
              </a:rPr>
              <a:t>384-dimensional dense vectors generated via local </a:t>
            </a:r>
            <a:r>
              <a:rPr dirty="0" err="1">
                <a:solidFill>
                  <a:srgbClr val="94A3B8"/>
                </a:solidFill>
                <a:latin typeface="Calibri"/>
              </a:rPr>
              <a:t>SentenceTransformers</a:t>
            </a:r>
            <a:r>
              <a:rPr dirty="0">
                <a:solidFill>
                  <a:srgbClr val="94A3B8"/>
                </a:solidFill>
                <a:latin typeface="Calibri"/>
              </a:rPr>
              <a:t> (all-MiniLM-L6-v2) on CPU.</a:t>
            </a:r>
          </a:p>
          <a:p>
            <a:pPr>
              <a:spcAft>
                <a:spcPts val="10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Local Active Index: </a:t>
            </a:r>
            <a:r>
              <a:rPr dirty="0">
                <a:solidFill>
                  <a:srgbClr val="94A3B8"/>
                </a:solidFill>
                <a:latin typeface="Calibri"/>
              </a:rPr>
              <a:t>Loads a local active index of 1,091 target passages, decreasing CPU-bound retrieval latency to 0.3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371600"/>
            <a:ext cx="585216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262233"/>
              </p:ext>
            </p:extLst>
          </p:nvPr>
        </p:nvGraphicFramePr>
        <p:xfrm>
          <a:off x="6035040" y="155448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1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Source Type</a:t>
                      </a:r>
                    </a:p>
                  </a:txBody>
                  <a:tcPr>
                    <a:solidFill>
                      <a:srgbClr val="1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Passages</a:t>
                      </a:r>
                    </a:p>
                  </a:txBody>
                  <a:tcPr>
                    <a:solidFill>
                      <a:srgbClr val="1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FFFFFF"/>
                          </a:solidFill>
                          <a:latin typeface="Calibri"/>
                        </a:rPr>
                        <a:t>Government (GOVT)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FFFFFF"/>
                          </a:solidFill>
                          <a:latin typeface="Calibri"/>
                        </a:rPr>
                        <a:t>NASA Space Missions &amp; FEMA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  <a:latin typeface="Calibri"/>
                        </a:rPr>
                        <a:t>49,607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FFFFFF"/>
                          </a:solidFill>
                          <a:latin typeface="Calibri"/>
                        </a:rPr>
                        <a:t>Finance (FIQA)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FFFFFF"/>
                          </a:solidFill>
                          <a:latin typeface="Calibri"/>
                        </a:rPr>
                        <a:t>Financial News &amp; Analyst Q&amp;A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  <a:latin typeface="Calibri"/>
                        </a:rPr>
                        <a:t>61,022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FFFFFF"/>
                          </a:solidFill>
                          <a:latin typeface="Calibri"/>
                        </a:rPr>
                        <a:t>Cloud (CLOUD)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FFFFFF"/>
                          </a:solidFill>
                          <a:latin typeface="Calibri"/>
                        </a:rPr>
                        <a:t>IBM </a:t>
                      </a:r>
                      <a:r>
                        <a:rPr sz="1400" b="0" dirty="0" err="1">
                          <a:solidFill>
                            <a:srgbClr val="FFFFFF"/>
                          </a:solidFill>
                          <a:latin typeface="Calibri"/>
                        </a:rPr>
                        <a:t>Cloudant</a:t>
                      </a:r>
                      <a:r>
                        <a:rPr sz="1400" b="0" dirty="0">
                          <a:solidFill>
                            <a:srgbClr val="FFFFFF"/>
                          </a:solidFill>
                          <a:latin typeface="Calibri"/>
                        </a:rPr>
                        <a:t> Developer Docs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  <a:latin typeface="Calibri"/>
                        </a:rPr>
                        <a:t>72,442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FFFFFF"/>
                          </a:solidFill>
                          <a:latin typeface="Calibri"/>
                        </a:rPr>
                        <a:t>Wikipedia (CLAPNQ)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FFFFFF"/>
                          </a:solidFill>
                          <a:latin typeface="Calibri"/>
                        </a:rPr>
                        <a:t>General Knowledge Factoids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  <a:latin typeface="Calibri"/>
                        </a:rPr>
                        <a:t>183,408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E2B04E"/>
                          </a:solidFill>
                          <a:latin typeface="Calibri"/>
                        </a:rPr>
                        <a:t>Total Corpus</a:t>
                      </a:r>
                    </a:p>
                  </a:txBody>
                  <a:tcPr>
                    <a:solidFill>
                      <a:srgbClr val="1F29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E2B04E"/>
                          </a:solidFill>
                          <a:latin typeface="Calibri"/>
                        </a:rPr>
                        <a:t>Mt-RAG Database Pool</a:t>
                      </a:r>
                    </a:p>
                  </a:txBody>
                  <a:tcPr>
                    <a:solidFill>
                      <a:srgbClr val="1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E2B04E"/>
                          </a:solidFill>
                          <a:latin typeface="Calibri"/>
                        </a:rPr>
                        <a:t>366,479</a:t>
                      </a:r>
                    </a:p>
                  </a:txBody>
                  <a:tcPr>
                    <a:solidFill>
                      <a:srgbClr val="1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ATLAS 7-Pillar Modular RAG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945" y="1371600"/>
            <a:ext cx="5029200" cy="365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Thread-Safe Modular Engine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Singleton Pipeline Class: </a:t>
            </a:r>
            <a:r>
              <a:rPr dirty="0">
                <a:solidFill>
                  <a:srgbClr val="94A3B8"/>
                </a:solidFill>
                <a:latin typeface="Calibri"/>
              </a:rPr>
              <a:t>Constructed as a thread-safe singleton class wrapper in background memory to coordinate user sessions.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Modular Pillar Design: </a:t>
            </a:r>
            <a:r>
              <a:rPr dirty="0">
                <a:solidFill>
                  <a:srgbClr val="94A3B8"/>
                </a:solidFill>
                <a:latin typeface="Calibri"/>
              </a:rPr>
              <a:t>Divides operations into distinct, isolated modules. Permits direct parameter tuning or component ablation.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Integrated Guards: </a:t>
            </a:r>
            <a:r>
              <a:rPr dirty="0">
                <a:solidFill>
                  <a:srgbClr val="94A3B8"/>
                </a:solidFill>
                <a:latin typeface="Calibri"/>
              </a:rPr>
              <a:t>Retrieval and anti-hallucination gates are executed before LLM processing, safeguarding the output from hallucinated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790895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508760"/>
            <a:ext cx="5608015" cy="418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7-Pillar Pipeline Overview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Pillar 1: </a:t>
            </a:r>
            <a:r>
              <a:rPr dirty="0">
                <a:solidFill>
                  <a:srgbClr val="94A3B8"/>
                </a:solidFill>
                <a:latin typeface="Calibri"/>
              </a:rPr>
              <a:t>Dialogue Context Tracker (Noun-phrase caching)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Pillar 2: </a:t>
            </a:r>
            <a:r>
              <a:rPr dirty="0">
                <a:solidFill>
                  <a:srgbClr val="94A3B8"/>
                </a:solidFill>
                <a:latin typeface="Calibri"/>
              </a:rPr>
              <a:t>Coreference Query Rewriter (Pronoun replacement)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Pillar 3: </a:t>
            </a:r>
            <a:r>
              <a:rPr dirty="0">
                <a:solidFill>
                  <a:srgbClr val="94A3B8"/>
                </a:solidFill>
                <a:latin typeface="Calibri"/>
              </a:rPr>
              <a:t>Dual-Channel Hybrid Retrieval (Lexical + Semantic)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Pillar 4: </a:t>
            </a:r>
            <a:r>
              <a:rPr dirty="0">
                <a:solidFill>
                  <a:srgbClr val="94A3B8"/>
                </a:solidFill>
                <a:latin typeface="Calibri"/>
              </a:rPr>
              <a:t>Reciprocal Rank Fusion (RRF Aggregator)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Pillar 5: </a:t>
            </a:r>
            <a:r>
              <a:rPr dirty="0">
                <a:solidFill>
                  <a:srgbClr val="94A3B8"/>
                </a:solidFill>
                <a:latin typeface="Calibri"/>
              </a:rPr>
              <a:t>Neural Cross-Encoder </a:t>
            </a:r>
            <a:r>
              <a:rPr dirty="0" err="1">
                <a:solidFill>
                  <a:srgbClr val="94A3B8"/>
                </a:solidFill>
                <a:latin typeface="Calibri"/>
              </a:rPr>
              <a:t>Reranker</a:t>
            </a:r>
            <a:r>
              <a:rPr dirty="0">
                <a:solidFill>
                  <a:srgbClr val="94A3B8"/>
                </a:solidFill>
                <a:latin typeface="Calibri"/>
              </a:rPr>
              <a:t> (</a:t>
            </a:r>
            <a:r>
              <a:rPr dirty="0" err="1">
                <a:solidFill>
                  <a:srgbClr val="94A3B8"/>
                </a:solidFill>
                <a:latin typeface="Calibri"/>
              </a:rPr>
              <a:t>ms-marco-MiniLM</a:t>
            </a:r>
            <a:r>
              <a:rPr dirty="0">
                <a:solidFill>
                  <a:srgbClr val="94A3B8"/>
                </a:solidFill>
                <a:latin typeface="Calibri"/>
              </a:rPr>
              <a:t>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Pillar 6: </a:t>
            </a:r>
            <a:r>
              <a:rPr dirty="0">
                <a:solidFill>
                  <a:srgbClr val="94A3B8"/>
                </a:solidFill>
                <a:latin typeface="Calibri"/>
              </a:rPr>
              <a:t>Anti-Hallucination Decision Agent (4 safety filters)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Pillar 7: </a:t>
            </a:r>
            <a:r>
              <a:rPr dirty="0">
                <a:solidFill>
                  <a:srgbClr val="94A3B8"/>
                </a:solidFill>
                <a:latin typeface="Calibri"/>
              </a:rPr>
              <a:t>Extractive Sliding-Window Sentence Scorer (Highlighted citations)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Pillar 1 &amp; 2: Dialogue State &amp; Coreference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29260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2036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Channel 1: User Subjects Tracker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Noun Extraction: </a:t>
            </a:r>
            <a:r>
              <a:rPr dirty="0">
                <a:solidFill>
                  <a:srgbClr val="94A3B8"/>
                </a:solidFill>
                <a:latin typeface="Calibri"/>
              </a:rPr>
              <a:t>Caches user noun-phrases from dialogue history, ignoring prepositions and </a:t>
            </a:r>
            <a:r>
              <a:rPr dirty="0" err="1">
                <a:solidFill>
                  <a:srgbClr val="94A3B8"/>
                </a:solidFill>
                <a:latin typeface="Calibri"/>
              </a:rPr>
              <a:t>stopwords</a:t>
            </a:r>
            <a:r>
              <a:rPr dirty="0">
                <a:solidFill>
                  <a:srgbClr val="94A3B8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Length Calibration: </a:t>
            </a:r>
            <a:r>
              <a:rPr dirty="0">
                <a:solidFill>
                  <a:srgbClr val="94A3B8"/>
                </a:solidFill>
                <a:latin typeface="Calibri"/>
              </a:rPr>
              <a:t>Truncates subjects to the last three terms. This prevents sentence noise and extracts core subject words (e.g. 'wildfires').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486400" cy="29260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9535" y="1691640"/>
            <a:ext cx="5303520" cy="2036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Channel 2: Proper Nouns Tracker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Entities Cache: </a:t>
            </a:r>
            <a:r>
              <a:rPr dirty="0">
                <a:solidFill>
                  <a:srgbClr val="94A3B8"/>
                </a:solidFill>
                <a:latin typeface="Calibri"/>
              </a:rPr>
              <a:t>Tracks capitalized words across user queries and assistant responses to map names, places, and abbreviations.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Transition Filtering: </a:t>
            </a:r>
            <a:r>
              <a:rPr dirty="0">
                <a:solidFill>
                  <a:srgbClr val="94A3B8"/>
                </a:solidFill>
                <a:latin typeface="Calibri"/>
              </a:rPr>
              <a:t>Excludes domain shortcuts and question starters using list filters.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1277295" cy="15544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1094415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2B04E"/>
                </a:solidFill>
                <a:latin typeface="Calibri"/>
              </a:defRPr>
            </a:pPr>
            <a:r>
              <a:rPr sz="1400" dirty="0"/>
              <a:t>CONTEXT RESOLUTION TRACE EXAMPLE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User Turn 1: "Which state has more wildfires?"  (Subject Cached: "wildfires")</a:t>
            </a:r>
            <a:br>
              <a:rPr sz="1400" dirty="0"/>
            </a:br>
            <a:r>
              <a:rPr sz="1400" dirty="0"/>
              <a:t>User Turn 2: "What causes them?"  (Pronoun Detected: "them")</a:t>
            </a:r>
            <a:br>
              <a:rPr sz="1400" dirty="0"/>
            </a:br>
            <a:r>
              <a:rPr sz="1400" dirty="0"/>
              <a:t>Rewriter Output: "What causes wildfires?"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Pillar 3: Dual-Channel Hybrid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2795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Channel 1: Lexical (BM25 Okapi)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Keyword Alignment: </a:t>
            </a:r>
            <a:r>
              <a:rPr dirty="0">
                <a:solidFill>
                  <a:srgbClr val="94A3B8"/>
                </a:solidFill>
                <a:latin typeface="Calibri"/>
              </a:rPr>
              <a:t>Computes exact keyword term matches using BM25 Okapi, handling unique codes, jargon, and IDs.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Scoring: </a:t>
            </a:r>
            <a:r>
              <a:rPr dirty="0">
                <a:solidFill>
                  <a:srgbClr val="94A3B8"/>
                </a:solidFill>
                <a:latin typeface="Calibri"/>
              </a:rPr>
              <a:t>Calculates term frequencies and inverse document frequencies across documents.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Top Candidates: </a:t>
            </a:r>
            <a:r>
              <a:rPr dirty="0">
                <a:solidFill>
                  <a:srgbClr val="94A3B8"/>
                </a:solidFill>
                <a:latin typeface="Calibri"/>
              </a:rPr>
              <a:t>Returns the top 50 passages for rank fusion.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9535" y="1691640"/>
            <a:ext cx="5303520" cy="3072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Channel 2: Semantic (Dense FAISS)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Semantic Representation: </a:t>
            </a:r>
            <a:r>
              <a:rPr dirty="0">
                <a:solidFill>
                  <a:srgbClr val="94A3B8"/>
                </a:solidFill>
                <a:latin typeface="Calibri"/>
              </a:rPr>
              <a:t>Encodes queries into 384-dimensional dense vector space using all-MiniLM-L6-v2.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FAISS Vector Search: </a:t>
            </a:r>
            <a:r>
              <a:rPr dirty="0">
                <a:solidFill>
                  <a:srgbClr val="94A3B8"/>
                </a:solidFill>
                <a:latin typeface="Calibri"/>
              </a:rPr>
              <a:t>Runs flat inner-product similarity search on the local index to find semantic equivalents.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Top Candidates: </a:t>
            </a:r>
            <a:r>
              <a:rPr dirty="0">
                <a:solidFill>
                  <a:srgbClr val="94A3B8"/>
                </a:solidFill>
                <a:latin typeface="Calibri"/>
              </a:rPr>
              <a:t>Returns the top 50 semantic passages for rank fusion</a:t>
            </a:r>
            <a:r>
              <a:rPr sz="130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Pillar 4 &amp; 5: RRF Rank Fusion &amp; Cross-Encoder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8640" y="1691640"/>
                <a:ext cx="5303520" cy="2821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  <a:defRPr sz="1800" b="1">
                    <a:solidFill>
                      <a:srgbClr val="FFFFFF"/>
                    </a:solidFill>
                    <a:latin typeface="Calibri"/>
                  </a:defRPr>
                </a:pPr>
                <a:r>
                  <a:rPr dirty="0"/>
                  <a:t>Pillar 4: Reciprocal Rank Fusion (RRF)</a:t>
                </a:r>
              </a:p>
              <a:p>
                <a:pPr>
                  <a:spcAft>
                    <a:spcPts val="2000"/>
                  </a:spcAft>
                  <a:defRPr sz="1200">
                    <a:solidFill>
                      <a:srgbClr val="94A3B8"/>
                    </a:solidFill>
                    <a:latin typeface="Calibri"/>
                  </a:defRPr>
                </a:pPr>
                <a:r>
                  <a:rPr sz="1600" dirty="0"/>
                  <a:t>Combines the retrieval ranks of both BM25 and FAISS dense search channels without score scale problems:</a:t>
                </a:r>
              </a:p>
              <a:p>
                <a:pPr algn="ctr">
                  <a:spcAft>
                    <a:spcPts val="2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𝑅𝑅𝐹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25,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DENSE</m:t>
                          </m:r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Rank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dirty="0"/>
              </a:p>
              <a:p>
                <a:pPr>
                  <a:spcAft>
                    <a:spcPts val="800"/>
                  </a:spcAft>
                </a:pPr>
                <a:r>
                  <a:rPr b="1" dirty="0">
                    <a:solidFill>
                      <a:srgbClr val="E2B04E"/>
                    </a:solidFill>
                    <a:latin typeface="Segoe UI"/>
                  </a:rPr>
                  <a:t>▪ </a:t>
                </a:r>
                <a:r>
                  <a:rPr b="1" dirty="0">
                    <a:solidFill>
                      <a:srgbClr val="FFFFFF"/>
                    </a:solidFill>
                    <a:latin typeface="Calibri"/>
                  </a:rPr>
                  <a:t>Rank Constant (k): </a:t>
                </a:r>
                <a:r>
                  <a:rPr dirty="0">
                    <a:solidFill>
                      <a:srgbClr val="94A3B8"/>
                    </a:solidFill>
                    <a:latin typeface="Calibri"/>
                  </a:rPr>
                  <a:t>Set to 60. Smooths the influence of outlier ranks and stabilizes ranking bounds.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691640"/>
                <a:ext cx="5303520" cy="2821926"/>
              </a:xfrm>
              <a:prstGeom prst="rect">
                <a:avLst/>
              </a:prstGeom>
              <a:blipFill>
                <a:blip r:embed="rId2"/>
                <a:stretch>
                  <a:fillRect l="-920" t="-1299"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6248095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0975" y="1750890"/>
            <a:ext cx="5303520" cy="2795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Pillar 5: Neural Cross-Encoder </a:t>
            </a:r>
            <a:r>
              <a:rPr dirty="0" err="1"/>
              <a:t>Reranker</a:t>
            </a:r>
            <a:endParaRPr dirty="0"/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Deep Term Attention: </a:t>
            </a:r>
            <a:r>
              <a:rPr dirty="0">
                <a:solidFill>
                  <a:srgbClr val="94A3B8"/>
                </a:solidFill>
                <a:latin typeface="Calibri"/>
              </a:rPr>
              <a:t>Uses ms-marco-MiniLM-L-6-v2 to compute cross-attention between query tokens and document tokens.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Relevance Score: </a:t>
            </a:r>
            <a:r>
              <a:rPr dirty="0">
                <a:solidFill>
                  <a:srgbClr val="94A3B8"/>
                </a:solidFill>
                <a:latin typeface="Calibri"/>
              </a:rPr>
              <a:t>Generates a logit confidence score (from -10.0 to +10.0) indicating document sufficiency.</a:t>
            </a:r>
          </a:p>
          <a:p>
            <a:pPr>
              <a:spcAft>
                <a:spcPts val="12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Reranking: </a:t>
            </a:r>
            <a:r>
              <a:rPr dirty="0">
                <a:solidFill>
                  <a:srgbClr val="94A3B8"/>
                </a:solidFill>
                <a:latin typeface="Calibri"/>
              </a:rPr>
              <a:t>Selects the top candidate for safety verification, filtering out weak scores.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Pillar 6: Anti-Hallucination Decision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94A3B8"/>
                </a:solidFill>
                <a:latin typeface="Calibri"/>
              </a:defRPr>
            </a:pPr>
            <a:r>
              <a:t>Four safety gates verify if the top candidate contains enough evidence: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0116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1. Domain-Calibrated Thresholds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Logit Filter: </a:t>
            </a:r>
            <a:r>
              <a:rPr sz="1600" dirty="0" err="1">
                <a:solidFill>
                  <a:srgbClr val="94A3B8"/>
                </a:solidFill>
                <a:latin typeface="Calibri"/>
              </a:rPr>
              <a:t>Reranker</a:t>
            </a:r>
            <a:r>
              <a:rPr sz="1600" dirty="0">
                <a:solidFill>
                  <a:srgbClr val="94A3B8"/>
                </a:solidFill>
                <a:latin typeface="Calibri"/>
              </a:rPr>
              <a:t> scores must exceed thresholds (CLOUD -2.0, GOVT -1.5, CLAPNQ -2.0, FIQA 2.0) to pass.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Abstention Trigger: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Queries falling below these thresholds are blocked to prevent factual fabrication</a:t>
            </a:r>
            <a:r>
              <a:rPr sz="120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828800"/>
            <a:ext cx="5486400" cy="20116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9535" y="2011680"/>
            <a:ext cx="5303520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2. Score-Gap Ambiguity Check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Score Spread: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Checks the logit difference between candidate #1 and #2. If the gap is &lt; 0.5 (with logit &lt; 0), the query is flagged.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Result: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Prevents the model from picking between two equally unhelpful or noisy search matches.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5486400" cy="20116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5303520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3. Semantic Overlap Check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Token Intersection: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Performs literal matching on non-</a:t>
            </a:r>
            <a:r>
              <a:rPr sz="1600" dirty="0" err="1">
                <a:solidFill>
                  <a:srgbClr val="94A3B8"/>
                </a:solidFill>
                <a:latin typeface="Calibri"/>
              </a:rPr>
              <a:t>stopword</a:t>
            </a:r>
            <a:r>
              <a:rPr sz="1600" dirty="0">
                <a:solidFill>
                  <a:srgbClr val="94A3B8"/>
                </a:solidFill>
                <a:latin typeface="Calibri"/>
              </a:rPr>
              <a:t> tokens between the query and candidate document.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Minimum Threshold: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Requires at least 2 content words to overlap, preventing matches on unrelated documents.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4206240"/>
            <a:ext cx="5486400" cy="20116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9535" y="4297680"/>
            <a:ext cx="530352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4. Named-Entity Consistency Guard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Literal Entity Match: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Extracts capitalized entities in query and checks for their literal or root representation in document.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Entity Alignment: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Prevents choice when a key name is capitalized differently or has lowercase mismatch (e.g. 'Freelancer' vs 'freelance').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Pillar 7: Extractive Sliding-Window Sentence Scorer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088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Grounded Extractive Generator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Zero-Hallucination: </a:t>
            </a:r>
            <a:r>
              <a:rPr sz="2000" dirty="0">
                <a:solidFill>
                  <a:srgbClr val="94A3B8"/>
                </a:solidFill>
                <a:latin typeface="Calibri"/>
              </a:rPr>
              <a:t>ATLAS does not generate free text. It acts strictly as an extractive answer generator, yielding verified source sentences.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Regex Sentence Splitter: </a:t>
            </a:r>
            <a:r>
              <a:rPr sz="2000" dirty="0">
                <a:solidFill>
                  <a:srgbClr val="94A3B8"/>
                </a:solidFill>
                <a:latin typeface="Calibri"/>
              </a:rPr>
              <a:t>Normalizes whitespace, line breaks, and bullet characters to split text into clean sentences.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Sliding-Window Scoring: </a:t>
            </a:r>
            <a:r>
              <a:rPr sz="2000" dirty="0">
                <a:solidFill>
                  <a:srgbClr val="94A3B8"/>
                </a:solidFill>
                <a:latin typeface="Calibri"/>
              </a:rPr>
              <a:t>Scores sentences by query word overlap. Selects the contiguous 2-3 sentence window with the highest score + position bias.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00585" y="1458787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Visualizing the Sentence Extractor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rPr dirty="0"/>
              <a:t>Document Passages (Segmented sentences):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560320"/>
            <a:ext cx="4754880" cy="548640"/>
          </a:xfrm>
          <a:prstGeom prst="rect">
            <a:avLst/>
          </a:prstGeom>
          <a:solidFill>
            <a:srgbClr val="0B0F19"/>
          </a:solidFill>
          <a:ln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dirty="0">
                <a:solidFill>
                  <a:srgbClr val="94A3B8"/>
                </a:solidFill>
                <a:latin typeface="Calibri"/>
              </a:rPr>
              <a:t>Sentence 1: Background info. (Overlap Score: 1)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200400"/>
            <a:ext cx="4937760" cy="1280160"/>
          </a:xfrm>
          <a:prstGeom prst="rect">
            <a:avLst/>
          </a:prstGeom>
          <a:solidFill>
            <a:srgbClr val="161D30"/>
          </a:solidFill>
          <a:ln w="25400">
            <a:solidFill>
              <a:srgbClr val="E2B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E2B04E"/>
                </a:solidFill>
                <a:latin typeface="Calibri"/>
              </a:rPr>
              <a:t>Active Extraction Window (Highest Summed Score + Position Bias)</a:t>
            </a:r>
            <a:endParaRPr dirty="0"/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Sentence 2: As of the end of the year, nearly 10,000 fires had burned over 4.2 million acres... (Score: 4)</a:t>
            </a:r>
          </a:p>
          <a:p>
            <a:r>
              <a:rPr sz="1100">
                <a:solidFill>
                  <a:srgbClr val="FFFFFF"/>
                </a:solidFill>
                <a:latin typeface="Calibri"/>
              </a:rPr>
              <a:t>• Sentence 3: California's August Complex fire has been described as the first "gigafire"... (Score: 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4663440"/>
            <a:ext cx="4754880" cy="548640"/>
          </a:xfrm>
          <a:prstGeom prst="rect">
            <a:avLst/>
          </a:prstGeom>
          <a:solidFill>
            <a:srgbClr val="0B0F19"/>
          </a:solidFill>
          <a:ln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>
                <a:solidFill>
                  <a:srgbClr val="94A3B8"/>
                </a:solidFill>
                <a:latin typeface="Calibri"/>
              </a:rPr>
              <a:t>Sentence 4: Mission launch date details. (Overlap Score: 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Visual Data 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920240" cy="1371600"/>
          </a:xfrm>
          <a:prstGeom prst="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E2B04E"/>
                </a:solidFill>
                <a:latin typeface="Calibri"/>
              </a:rPr>
              <a:t>STEP 01</a:t>
            </a:r>
            <a:br>
              <a:rPr dirty="0"/>
            </a:br>
            <a:endParaRPr dirty="0"/>
          </a:p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Query Tracker</a:t>
            </a:r>
          </a:p>
          <a:p>
            <a:pPr algn="ctr">
              <a:spcBef>
                <a:spcPts val="400"/>
              </a:spcBef>
            </a:pPr>
            <a:r>
              <a:rPr sz="950" dirty="0">
                <a:solidFill>
                  <a:srgbClr val="94A3B8"/>
                </a:solidFill>
                <a:latin typeface="Calibri"/>
              </a:rPr>
              <a:t>Extracts Noun Subjects</a:t>
            </a:r>
            <a:br>
              <a:rPr dirty="0"/>
            </a:br>
            <a:r>
              <a:rPr dirty="0"/>
              <a:t>&amp; Proper Nouns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4016" y="2606040"/>
            <a:ext cx="201168" cy="182880"/>
          </a:xfrm>
          <a:prstGeom prst="rightArrow">
            <a:avLst/>
          </a:prstGeom>
          <a:solidFill>
            <a:srgbClr val="E2B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51760" y="2011680"/>
            <a:ext cx="1920240" cy="1371600"/>
          </a:xfrm>
          <a:prstGeom prst="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E2B04E"/>
                </a:solidFill>
                <a:latin typeface="Calibri"/>
              </a:rPr>
              <a:t>STEP 02</a:t>
            </a:r>
            <a:br>
              <a:rPr dirty="0"/>
            </a:br>
            <a:endParaRPr dirty="0"/>
          </a:p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Query Rewriter</a:t>
            </a:r>
          </a:p>
          <a:p>
            <a:pPr algn="ctr">
              <a:spcBef>
                <a:spcPts val="400"/>
              </a:spcBef>
            </a:pPr>
            <a:r>
              <a:rPr sz="950" dirty="0">
                <a:solidFill>
                  <a:srgbClr val="94A3B8"/>
                </a:solidFill>
                <a:latin typeface="Calibri"/>
              </a:rPr>
              <a:t>Resolves Pronouns</a:t>
            </a:r>
            <a:br>
              <a:rPr dirty="0"/>
            </a:br>
            <a:r>
              <a:rPr dirty="0"/>
              <a:t>&amp; Context Gaps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08576" y="2606040"/>
            <a:ext cx="201168" cy="182880"/>
          </a:xfrm>
          <a:prstGeom prst="rightArrow">
            <a:avLst/>
          </a:prstGeom>
          <a:solidFill>
            <a:srgbClr val="E2B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46320" y="2011680"/>
            <a:ext cx="1920240" cy="1371600"/>
          </a:xfrm>
          <a:prstGeom prst="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1400" b="1" dirty="0">
              <a:solidFill>
                <a:srgbClr val="E2B04E"/>
              </a:solidFill>
              <a:latin typeface="Calibri"/>
            </a:endParaRPr>
          </a:p>
          <a:p>
            <a:pPr algn="ctr"/>
            <a:r>
              <a:rPr sz="1400" b="1" dirty="0">
                <a:solidFill>
                  <a:srgbClr val="E2B04E"/>
                </a:solidFill>
                <a:latin typeface="Calibri"/>
              </a:rPr>
              <a:t>STEP 03</a:t>
            </a:r>
            <a:endParaRPr lang="en-US" dirty="0"/>
          </a:p>
          <a:p>
            <a:pPr algn="ctr"/>
            <a:r>
              <a:rPr lang="en-US" sz="1300" b="1" dirty="0">
                <a:solidFill>
                  <a:srgbClr val="FFFFFF"/>
                </a:solidFill>
              </a:rPr>
              <a:t>Hybrid Retrieval</a:t>
            </a:r>
          </a:p>
          <a:p>
            <a:pPr algn="ctr">
              <a:spcBef>
                <a:spcPts val="400"/>
              </a:spcBef>
            </a:pPr>
            <a:r>
              <a:rPr lang="en-US" sz="950" dirty="0">
                <a:solidFill>
                  <a:srgbClr val="94A3B8"/>
                </a:solidFill>
              </a:rPr>
              <a:t>BM25 (Okapi) +</a:t>
            </a:r>
            <a:br>
              <a:rPr lang="en-US" dirty="0"/>
            </a:br>
            <a:r>
              <a:rPr lang="en-US" dirty="0"/>
              <a:t>FAISS Vector Space</a:t>
            </a:r>
          </a:p>
          <a:p>
            <a:pPr algn="ctr"/>
            <a:endParaRPr dirty="0"/>
          </a:p>
        </p:txBody>
      </p:sp>
      <p:sp>
        <p:nvSpPr>
          <p:cNvPr id="10" name="Right Arrow 9"/>
          <p:cNvSpPr/>
          <p:nvPr/>
        </p:nvSpPr>
        <p:spPr>
          <a:xfrm>
            <a:off x="6803136" y="2606040"/>
            <a:ext cx="201168" cy="182880"/>
          </a:xfrm>
          <a:prstGeom prst="rightArrow">
            <a:avLst/>
          </a:prstGeom>
          <a:solidFill>
            <a:srgbClr val="E2B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40880" y="2011680"/>
            <a:ext cx="1920240" cy="1371600"/>
          </a:xfrm>
          <a:prstGeom prst="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E2B04E"/>
                </a:solidFill>
                <a:latin typeface="Calibri"/>
              </a:rPr>
              <a:t>STEP 04</a:t>
            </a:r>
            <a:br>
              <a:rPr dirty="0"/>
            </a:br>
            <a:r>
              <a:rPr sz="1300" b="1" dirty="0">
                <a:solidFill>
                  <a:srgbClr val="FFFFFF"/>
                </a:solidFill>
                <a:latin typeface="Calibri"/>
              </a:rPr>
              <a:t>RRF &amp;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Rerank</a:t>
            </a:r>
            <a:endParaRPr sz="1300" b="1" dirty="0">
              <a:solidFill>
                <a:srgbClr val="FFFFFF"/>
              </a:solidFill>
              <a:latin typeface="Calibri"/>
            </a:endParaRPr>
          </a:p>
          <a:p>
            <a:pPr algn="ctr">
              <a:spcBef>
                <a:spcPts val="400"/>
              </a:spcBef>
            </a:pPr>
            <a:r>
              <a:rPr sz="950" dirty="0">
                <a:solidFill>
                  <a:srgbClr val="94A3B8"/>
                </a:solidFill>
                <a:latin typeface="Calibri"/>
              </a:rPr>
              <a:t>RRF merger (k=60) +</a:t>
            </a:r>
            <a:br>
              <a:rPr dirty="0"/>
            </a:br>
            <a:r>
              <a:rPr dirty="0"/>
              <a:t>Cross-Encoder </a:t>
            </a:r>
            <a:r>
              <a:rPr dirty="0" err="1"/>
              <a:t>Rerank</a:t>
            </a:r>
            <a:endParaRPr dirty="0"/>
          </a:p>
        </p:txBody>
      </p:sp>
      <p:sp>
        <p:nvSpPr>
          <p:cNvPr id="12" name="Right Arrow 11"/>
          <p:cNvSpPr/>
          <p:nvPr/>
        </p:nvSpPr>
        <p:spPr>
          <a:xfrm>
            <a:off x="8997696" y="2606040"/>
            <a:ext cx="201168" cy="182880"/>
          </a:xfrm>
          <a:prstGeom prst="rightArrow">
            <a:avLst/>
          </a:prstGeom>
          <a:solidFill>
            <a:srgbClr val="E2B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35440" y="1965960"/>
            <a:ext cx="1920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E2B04E"/>
                </a:solidFill>
                <a:latin typeface="Calibri"/>
              </a:rPr>
              <a:t>STEP 05</a:t>
            </a:r>
            <a:endParaRPr dirty="0"/>
          </a:p>
          <a:p>
            <a:pPr algn="ctr"/>
            <a:r>
              <a:rPr sz="1400" b="1" dirty="0">
                <a:solidFill>
                  <a:srgbClr val="0B0F19"/>
                </a:solidFill>
                <a:latin typeface="Calibri"/>
              </a:rPr>
              <a:t>Decision Gate</a:t>
            </a:r>
          </a:p>
          <a:p>
            <a:pPr algn="ctr">
              <a:spcBef>
                <a:spcPts val="400"/>
              </a:spcBef>
            </a:pPr>
            <a:r>
              <a:rPr sz="1400" dirty="0">
                <a:solidFill>
                  <a:srgbClr val="0B0F19"/>
                </a:solidFill>
                <a:latin typeface="Calibri"/>
              </a:rPr>
              <a:t>Calibrated Logits &amp;</a:t>
            </a:r>
            <a:br>
              <a:rPr sz="1400" dirty="0"/>
            </a:br>
            <a:r>
              <a:rPr sz="1400" dirty="0"/>
              <a:t>4-Tier Safety </a:t>
            </a:r>
            <a:r>
              <a:rPr dirty="0"/>
              <a:t>Checks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4206240"/>
            <a:ext cx="3474720" cy="1645920"/>
          </a:xfrm>
          <a:prstGeom prst="rect">
            <a:avLst/>
          </a:prstGeom>
          <a:solidFill>
            <a:srgbClr val="161D3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10B981"/>
                </a:solidFill>
                <a:latin typeface="Calibri"/>
              </a:rPr>
              <a:t>VERDICT: APPROVED</a:t>
            </a:r>
            <a:br>
              <a:rPr dirty="0"/>
            </a:br>
            <a:endParaRPr dirty="0"/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Action: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Sends text to Extractive Scorer.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Result: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Outputs grounded citation sentence block</a:t>
            </a:r>
            <a:r>
              <a:rPr sz="110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4206240"/>
            <a:ext cx="3474720" cy="1645920"/>
          </a:xfrm>
          <a:prstGeom prst="rect">
            <a:avLst/>
          </a:prstGeom>
          <a:solidFill>
            <a:srgbClr val="161D30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EF4444"/>
                </a:solidFill>
                <a:latin typeface="Calibri"/>
              </a:rPr>
              <a:t>VERDICT: INTERCEPTED</a:t>
            </a:r>
            <a:br>
              <a:rPr dirty="0"/>
            </a:br>
            <a:endParaRPr dirty="0"/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Action: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Blocks generative output path.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Result: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Returns safe 'insufficient evidence' abstention</a:t>
            </a:r>
            <a:r>
              <a:rPr sz="110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646920" y="3474720"/>
            <a:ext cx="182880" cy="54864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Wildfire Scenario (GOVT) &amp; Secure Deployment (CLOUD)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Scenario A: Wildfire Follow-Up Scenario (GOVT)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700" b="1" dirty="0">
                <a:solidFill>
                  <a:srgbClr val="FFFFFF"/>
                </a:solidFill>
                <a:latin typeface="Calibri"/>
              </a:rPr>
              <a:t>Turn 1 Query: </a:t>
            </a:r>
            <a:r>
              <a:rPr sz="1700" dirty="0">
                <a:solidFill>
                  <a:srgbClr val="94A3B8"/>
                </a:solidFill>
                <a:latin typeface="Calibri"/>
              </a:rPr>
              <a:t>"Which state has more wildfires?"</a:t>
            </a:r>
          </a:p>
          <a:p>
            <a:pPr>
              <a:spcAft>
                <a:spcPts val="400"/>
              </a:spcAft>
            </a:pPr>
            <a:r>
              <a:rPr sz="17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700" b="1" dirty="0">
                <a:solidFill>
                  <a:srgbClr val="FFFFFF"/>
                </a:solidFill>
                <a:latin typeface="Calibri"/>
              </a:rPr>
              <a:t>Verdict 1: </a:t>
            </a:r>
            <a:r>
              <a:rPr sz="1700" dirty="0">
                <a:solidFill>
                  <a:srgbClr val="94A3B8"/>
                </a:solidFill>
                <a:latin typeface="Calibri"/>
              </a:rPr>
              <a:t>APPROVED | Confidence: 3.847 (Threshold: -1.5)</a:t>
            </a:r>
          </a:p>
          <a:p>
            <a:pPr>
              <a:spcAft>
                <a:spcPts val="400"/>
              </a:spcAft>
            </a:pPr>
            <a:r>
              <a:rPr sz="17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700" b="1" dirty="0">
                <a:solidFill>
                  <a:srgbClr val="FFFFFF"/>
                </a:solidFill>
                <a:latin typeface="Calibri"/>
              </a:rPr>
              <a:t>Answer 1: </a:t>
            </a:r>
            <a:r>
              <a:rPr sz="1700" dirty="0">
                <a:solidFill>
                  <a:srgbClr val="94A3B8"/>
                </a:solidFill>
                <a:latin typeface="Calibri"/>
              </a:rPr>
              <a:t>Answer: "...nearly 10,000 fires had burned over 4.2 million acres... making 2020 the largest wildfire season recorded in California." [2806a7d8f0775d28-14422-16441]</a:t>
            </a:r>
          </a:p>
          <a:p>
            <a:pPr>
              <a:spcAft>
                <a:spcPts val="400"/>
              </a:spcAft>
            </a:pPr>
            <a:r>
              <a:rPr sz="17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700" b="1" dirty="0">
                <a:solidFill>
                  <a:srgbClr val="FFFFFF"/>
                </a:solidFill>
                <a:latin typeface="Calibri"/>
              </a:rPr>
              <a:t>Turn 2 Query: </a:t>
            </a:r>
            <a:r>
              <a:rPr sz="1700" dirty="0">
                <a:solidFill>
                  <a:srgbClr val="94A3B8"/>
                </a:solidFill>
                <a:latin typeface="Calibri"/>
              </a:rPr>
              <a:t>"What causes them?"</a:t>
            </a:r>
          </a:p>
          <a:p>
            <a:pPr>
              <a:spcAft>
                <a:spcPts val="400"/>
              </a:spcAft>
            </a:pPr>
            <a:r>
              <a:rPr sz="17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700" b="1" dirty="0">
                <a:solidFill>
                  <a:srgbClr val="FFFFFF"/>
                </a:solidFill>
                <a:latin typeface="Calibri"/>
              </a:rPr>
              <a:t>Rewriter: </a:t>
            </a:r>
            <a:r>
              <a:rPr sz="1700" dirty="0">
                <a:solidFill>
                  <a:srgbClr val="94A3B8"/>
                </a:solidFill>
                <a:latin typeface="Calibri"/>
              </a:rPr>
              <a:t>"What causes wildfires?" (Pronoun "them" successfully resolved to "wildfires").</a:t>
            </a:r>
          </a:p>
          <a:p>
            <a:pPr>
              <a:spcAft>
                <a:spcPts val="400"/>
              </a:spcAft>
            </a:pPr>
            <a:r>
              <a:rPr sz="17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700" b="1" dirty="0">
                <a:solidFill>
                  <a:srgbClr val="FFFFFF"/>
                </a:solidFill>
                <a:latin typeface="Calibri"/>
              </a:rPr>
              <a:t/>
            </a:r>
            <a:r>
              <a:rPr sz="1700" dirty="0">
                <a:solidFill>
                  <a:srgbClr val="94A3B8"/>
                </a:solidFill>
                <a:latin typeface="Calibri"/>
              </a:rPr>
              <a:t>APPROVED | Confidence: 3.363 (Threshold: -1.5)</a:t>
            </a:r>
            <a:r>
              <a:rPr sz="1600" dirty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0670" y="1703336"/>
            <a:ext cx="5303825" cy="397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Scenario B: Secure Compliance Deployment (CLOUD)</a:t>
            </a:r>
          </a:p>
          <a:p>
            <a:pPr>
              <a:spcAft>
                <a:spcPts val="400"/>
              </a:spcAft>
            </a:pPr>
            <a:r>
              <a:rPr sz="175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550" b="1" dirty="0">
                <a:solidFill>
                  <a:srgbClr val="FFFFFF"/>
                </a:solidFill>
                <a:latin typeface="Calibri"/>
              </a:rPr>
              <a:t>Turn 1 Query: </a:t>
            </a:r>
            <a:r>
              <a:rPr sz="1550" dirty="0">
                <a:solidFill>
                  <a:srgbClr val="94A3B8"/>
                </a:solidFill>
                <a:latin typeface="Calibri"/>
              </a:rPr>
              <a:t>"Explain secure compliant deployment steps."</a:t>
            </a:r>
          </a:p>
          <a:p>
            <a:pPr>
              <a:spcAft>
                <a:spcPts val="400"/>
              </a:spcAft>
            </a:pPr>
            <a:r>
              <a:rPr sz="155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550" b="1" dirty="0">
                <a:solidFill>
                  <a:srgbClr val="FFFFFF"/>
                </a:solidFill>
                <a:latin typeface="Calibri"/>
              </a:rPr>
              <a:t>Verdict 1: </a:t>
            </a:r>
            <a:r>
              <a:rPr sz="1550" dirty="0">
                <a:solidFill>
                  <a:srgbClr val="94A3B8"/>
                </a:solidFill>
                <a:latin typeface="Calibri"/>
              </a:rPr>
              <a:t>APPROVED | Confidence: 2.621 (Threshold: -2.0)</a:t>
            </a:r>
          </a:p>
          <a:p>
            <a:pPr>
              <a:spcAft>
                <a:spcPts val="400"/>
              </a:spcAft>
            </a:pPr>
            <a:r>
              <a:rPr sz="155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550" b="1" dirty="0">
                <a:solidFill>
                  <a:srgbClr val="FFFFFF"/>
                </a:solidFill>
                <a:latin typeface="Calibri"/>
              </a:rPr>
              <a:t>Answer 1: </a:t>
            </a:r>
            <a:r>
              <a:rPr sz="1550" dirty="0">
                <a:solidFill>
                  <a:srgbClr val="94A3B8"/>
                </a:solidFill>
                <a:latin typeface="Calibri"/>
              </a:rPr>
              <a:t>"Answer: "...continuous security and compliance at the core of IBM Cloud's platform... find compliant-by-default infrastructure..." [ibmcld_12538-7-2121]" </a:t>
            </a:r>
          </a:p>
          <a:p>
            <a:pPr>
              <a:spcAft>
                <a:spcPts val="400"/>
              </a:spcAft>
            </a:pPr>
            <a:r>
              <a:rPr sz="155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550" b="1" dirty="0">
                <a:solidFill>
                  <a:srgbClr val="FFFFFF"/>
                </a:solidFill>
                <a:latin typeface="Calibri"/>
              </a:rPr>
              <a:t/>
            </a:r>
            <a:r>
              <a:rPr sz="1550" dirty="0">
                <a:solidFill>
                  <a:srgbClr val="94A3B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5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550" b="1" dirty="0">
                <a:solidFill>
                  <a:srgbClr val="FFFFFF"/>
                </a:solidFill>
                <a:latin typeface="Calibri"/>
              </a:rPr>
              <a:t/>
            </a:r>
            <a:r>
              <a:rPr sz="1550" dirty="0">
                <a:solidFill>
                  <a:srgbClr val="94A3B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5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550" b="1" dirty="0">
                <a:solidFill>
                  <a:srgbClr val="FFFFFF"/>
                </a:solidFill>
                <a:latin typeface="Calibri"/>
              </a:rPr>
              <a:t/>
            </a:r>
            <a:r>
              <a:rPr sz="1550" dirty="0">
                <a:solidFill>
                  <a:srgbClr val="94A3B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ns2:AlternateContent>
    <ns2:Choice Requires="p14">
      <p:transition spd="med" ns3:dur="700">
        <p:fade/>
      </p:transition>
    </ns2:Choice>
    <ns2:Fallback>
      <p:transition spd="med">
        <p:fade/>
      </p:transition>
    </ns2:Fallback>
  </ns2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Lightning Wildfires (CLAPNQ) &amp; Market Cap vs NAV (FIQA)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Scenario C: Lightning Causes of Wildfires (CLAPNQ)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Query: </a:t>
            </a:r>
            <a:r>
              <a:rPr dirty="0">
                <a:solidFill>
                  <a:srgbClr val="94A3B8"/>
                </a:solidFill>
                <a:latin typeface="Calibri"/>
              </a:rPr>
              <a:t>"What causes most lightning and natural wildfires?" -&gt; APPROVED. Confidence: 2.926 (Threshold -2.0). Answer: "...rainfall can not prevent fires from starting when vegetation is dry as lightning produces a concentrated amount of extreme heat." [833974015_22021-22735-0-714]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/>
            </a:r>
            <a:r>
              <a:rPr dirty="0">
                <a:solidFill>
                  <a:srgbClr val="94A3B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/>
            </a:r>
            <a:r>
              <a:rPr dirty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9535" y="16916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Scenario D: Market Cap vs NAV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Query: </a:t>
            </a:r>
            <a:r>
              <a:rPr dirty="0">
                <a:solidFill>
                  <a:srgbClr val="94A3B8"/>
                </a:solidFill>
                <a:latin typeface="Calibri"/>
              </a:rPr>
              <a:t>"What's the difference between Market Cap and NAV?"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Verdict 1: </a:t>
            </a:r>
            <a:r>
              <a:rPr dirty="0">
                <a:solidFill>
                  <a:srgbClr val="94A3B8"/>
                </a:solidFill>
                <a:latin typeface="Calibri"/>
              </a:rPr>
              <a:t>APPROVED | Confidence: 7.431 (Threshold: 2.0). Answer: "...Amazon today people are willing to pay 290 a share for a company with a NAV of 22 a share." [414940-0-474]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/>
            </a:r>
            <a:r>
              <a:rPr dirty="0">
                <a:solidFill>
                  <a:srgbClr val="94A3B8"/>
                </a:solidFill>
                <a:latin typeface="Calibri"/>
              </a:rPr>
              <a:t>"Which is more important?"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Rewriter: </a:t>
            </a:r>
            <a:r>
              <a:rPr dirty="0">
                <a:solidFill>
                  <a:srgbClr val="94A3B8"/>
                </a:solidFill>
                <a:latin typeface="Calibri"/>
              </a:rPr>
              <a:t>"Market Cap and NAV is more important?" (Rewritten from "Which is more important?")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Verdict 2: </a:t>
            </a:r>
            <a:r>
              <a:rPr dirty="0">
                <a:solidFill>
                  <a:srgbClr val="94A3B8"/>
                </a:solidFill>
                <a:latin typeface="Calibri"/>
              </a:rPr>
              <a:t>APPROVED | Confidence: 4.652 (Threshold: 2.0)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Abstention: </a:t>
            </a:r>
            <a:r>
              <a:rPr dirty="0">
                <a:solidFill>
                  <a:srgbClr val="94A3B8"/>
                </a:solidFill>
                <a:latin typeface="Calibri"/>
              </a:rPr>
              <a:t>Answer: "...Amazon today people are willing to pay 290 a share for a company with a NAV of 22 a share..." [414940-0-474] (Retrieves same grounding context).</a:t>
            </a: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SYSTEM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Quantitative Performance &amp; Interception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1700" dirty="0"/>
              <a:t>Safety Interception Scenarios</a:t>
            </a:r>
          </a:p>
          <a:p>
            <a:pPr>
              <a:spcAft>
                <a:spcPts val="600"/>
              </a:spcAft>
            </a:pPr>
            <a:r>
              <a:rPr sz="17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700" b="1" dirty="0">
                <a:solidFill>
                  <a:srgbClr val="FFFFFF"/>
                </a:solidFill>
                <a:latin typeface="Calibri"/>
              </a:rPr>
              <a:t>Case 1: Named-Entity Consistency Check: </a:t>
            </a:r>
            <a:r>
              <a:rPr sz="1700" dirty="0">
                <a:solidFill>
                  <a:srgbClr val="94A3B8"/>
                </a:solidFill>
                <a:latin typeface="Calibri"/>
              </a:rPr>
              <a:t>Query: "What is the NAV of Apple?" (Domain: FIQA). Rewritten: "What is the NAV of Apple?". INTERCEPTED (Confidence score -0.856 is below domain threshold 2.0). Named-Entity check failed: capitalized entity "Apple" is missing from the retrieved document (which only discusses Amazon, Net Asset Value, and Market Cap).</a:t>
            </a:r>
          </a:p>
          <a:p>
            <a:pPr>
              <a:spcAft>
                <a:spcPts val="600"/>
              </a:spcAft>
            </a:pPr>
            <a:r>
              <a:rPr sz="17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700" b="1" dirty="0">
                <a:solidFill>
                  <a:srgbClr val="FFFFFF"/>
                </a:solidFill>
                <a:latin typeface="Calibri"/>
              </a:rPr>
              <a:t>Case 2: Out-of-Domain Calibrated Threshold: </a:t>
            </a:r>
            <a:r>
              <a:rPr sz="1700" dirty="0">
                <a:solidFill>
                  <a:srgbClr val="94A3B8"/>
                </a:solidFill>
                <a:latin typeface="Calibri"/>
              </a:rPr>
              <a:t>User queries: 'How do you bake a vanilla wedding cake with buttercream frosting?' (Domain: GOVT). </a:t>
            </a:r>
            <a:r>
              <a:rPr sz="1700" dirty="0" err="1">
                <a:solidFill>
                  <a:srgbClr val="94A3B8"/>
                </a:solidFill>
                <a:latin typeface="Calibri"/>
              </a:rPr>
              <a:t>Reranker</a:t>
            </a:r>
            <a:r>
              <a:rPr sz="1700" dirty="0">
                <a:solidFill>
                  <a:srgbClr val="94A3B8"/>
                </a:solidFill>
                <a:latin typeface="Calibri"/>
              </a:rPr>
              <a:t> logit drops to -10.161. INTERCEPTED because the confidence falls significantly below the calibrated threshold (GOVT: -1.5), preventing hallucination.</a:t>
            </a:r>
            <a:r>
              <a:rPr sz="1600" dirty="0">
                <a:solidFill>
                  <a:srgbClr val="94A3B8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48640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ns2:modId val="3029971831"/>
              </p:ext>
            </p:extLst>
          </p:nvPr>
        </p:nvGraphicFramePr>
        <p:xfrm>
          <a:off x="6339535" y="1691640"/>
          <a:ext cx="5303520" cy="477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ns3:colId val="20000"/>
                    </a:ext>
                  </a:extLst>
                </a:gridCol>
                <a:gridCol w="1030954">
                  <a:extLst>
                    <a:ext uri="{9D8B030D-6E8A-4147-A177-3AD203B41FA5}">
                      <ns3:colId val="20001"/>
                    </a:ext>
                  </a:extLst>
                </a:gridCol>
                <a:gridCol w="2626646">
                  <a:extLst>
                    <a:ext uri="{9D8B030D-6E8A-4147-A177-3AD203B41FA5}">
                      <ns3:colId val="20002"/>
                    </a:ext>
                  </a:extLst>
                </a:gridCol>
              </a:tblGrid>
              <a:tr h="1074420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>
                    <a:solidFill>
                      <a:srgbClr val="1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dirty="0">
                          <a:solidFill>
                            <a:srgbClr val="FFFFFF"/>
                          </a:solidFill>
                          <a:latin typeface="Calibri"/>
                        </a:rPr>
                        <a:t>Key Strengths</a:t>
                      </a:r>
                    </a:p>
                  </a:txBody>
                  <a:tcPr>
                    <a:solidFill>
                      <a:srgbClr val="1F2942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FFFFFF"/>
                          </a:solidFill>
                          <a:latin typeface="Calibri"/>
                        </a:rPr>
                        <a:t>Factual Accuracy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  <a:latin typeface="Calibri"/>
                        </a:rPr>
                        <a:t>10.0 / 10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FFFFFF"/>
                          </a:solidFill>
                          <a:latin typeface="Calibri"/>
                        </a:rPr>
                        <a:t>High-precision extractive sliding window prevents hallucination. Added safe room passages to active subset.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FFFFFF"/>
                          </a:solidFill>
                          <a:latin typeface="Calibri"/>
                        </a:rPr>
                        <a:t>Dialogue Rewriting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  <a:latin typeface="Calibri"/>
                        </a:rPr>
                        <a:t>9.5 / 10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FFFFFF"/>
                          </a:solidFill>
                          <a:latin typeface="Calibri"/>
                        </a:rPr>
                        <a:t>Accurate noun-phrase extraction; query generation is optimized for vector matching. Truncates context nouns.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FFFFFF"/>
                          </a:solidFill>
                          <a:latin typeface="Calibri"/>
                        </a:rPr>
                        <a:t>Abstention Safety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FFFFFF"/>
                          </a:solidFill>
                          <a:latin typeface="Calibri"/>
                        </a:rPr>
                        <a:t>10.0 / 10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FFFFFF"/>
                          </a:solidFill>
                          <a:latin typeface="Calibri"/>
                        </a:rPr>
                        <a:t>Cleanly intercepts out-of-bounds, subjective, or mismatched queries. Calibrated thresholds configured.</a:t>
                      </a:r>
                    </a:p>
                  </a:txBody>
                  <a:tcPr>
                    <a:solidFill>
                      <a:srgbClr val="161D30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2B04E"/>
                </a:solidFill>
                <a:latin typeface="Calibri"/>
              </a:defRPr>
            </a:pPr>
            <a:r>
              <a:t>TEAM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Limits, Scale Roadmap &amp; Contributor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31581" y="1470308"/>
            <a:ext cx="347472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14461" y="1607468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600" b="1">
                <a:solidFill>
                  <a:srgbClr val="E2B04E"/>
                </a:solidFill>
                <a:latin typeface="Calibri"/>
              </a:defRPr>
            </a:pPr>
            <a:r>
              <a:rPr sz="2000" dirty="0"/>
              <a:t>Pillar Limits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Extractive Only: </a:t>
            </a:r>
            <a:r>
              <a:rPr dirty="0">
                <a:solidFill>
                  <a:srgbClr val="94A3B8"/>
                </a:solidFill>
                <a:latin typeface="Calibri"/>
              </a:rPr>
              <a:t>System cannot paraphrase or combine info across multiple files. Answers anchored in single passages.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Short Window: </a:t>
            </a:r>
            <a:r>
              <a:rPr dirty="0">
                <a:solidFill>
                  <a:srgbClr val="94A3B8"/>
                </a:solidFill>
                <a:latin typeface="Calibri"/>
              </a:rPr>
              <a:t>Tracker relies on immediate history. Long conversations (&gt;10 turns) with rapid topic changes can degrade rewriting.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b="1" dirty="0">
                <a:solidFill>
                  <a:srgbClr val="FFFFFF"/>
                </a:solidFill>
                <a:latin typeface="Calibri"/>
              </a:rPr>
              <a:t>CPU Latency: </a:t>
            </a:r>
            <a:r>
              <a:rPr dirty="0">
                <a:solidFill>
                  <a:srgbClr val="94A3B8"/>
                </a:solidFill>
                <a:latin typeface="Calibri"/>
              </a:rPr>
              <a:t>Vector retrieval and Cross-Encoder reranking over the full database requires GPU; CPU needs active subsets.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5699" y="1439530"/>
            <a:ext cx="3474720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968579" y="1691640"/>
            <a:ext cx="3291840" cy="4129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600" b="1">
                <a:solidFill>
                  <a:srgbClr val="E2B04E"/>
                </a:solidFill>
                <a:latin typeface="Calibri"/>
              </a:defRPr>
            </a:pPr>
            <a:r>
              <a:rPr sz="2000" dirty="0"/>
              <a:t>Scaling Roadmap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Phase 1: GPU FAISS: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Deploy FAISS indices over GPU hardware to query the full 366,479 global corpus in real-time under parallel CUDA pipelines.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Phase 2: Hybrid Synthesis: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Allow the LLM to generate natural transitions and synthesize answers while keeping them anchored in extractive evidence.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E2B04E"/>
                </a:solidFill>
                <a:latin typeface="Segoe UI"/>
              </a:rPr>
              <a:t>▪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Phase 3: Cross-Doc Synthesis: </a:t>
            </a:r>
            <a:r>
              <a:rPr sz="1600" dirty="0">
                <a:solidFill>
                  <a:srgbClr val="94A3B8"/>
                </a:solidFill>
                <a:latin typeface="Calibri"/>
              </a:rPr>
              <a:t>Support merging and answering from facts spread across multiple documents via Graph Neural Networks (GNNs).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B8EEE-6DEE-D883-4473-0607C1674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A230A3-2DAB-2E3D-5443-D1DC20C3BE68}"/>
              </a:ext>
            </a:extLst>
          </p:cNvPr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EC1E1A-55A8-58E7-6F11-F25EF58A9165}"/>
              </a:ext>
            </a:extLst>
          </p:cNvPr>
          <p:cNvSpPr/>
          <p:nvPr/>
        </p:nvSpPr>
        <p:spPr>
          <a:xfrm>
            <a:off x="1552354" y="1470308"/>
            <a:ext cx="8888818" cy="457200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1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F6C03E-73FB-9BEE-3F4A-70370E02CEAB}"/>
              </a:ext>
            </a:extLst>
          </p:cNvPr>
          <p:cNvSpPr txBox="1"/>
          <p:nvPr/>
        </p:nvSpPr>
        <p:spPr>
          <a:xfrm>
            <a:off x="3391787" y="3157869"/>
            <a:ext cx="5688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9900"/>
                </a:solidFill>
                <a:latin typeface="Georgia" panose="02040502050405020303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4792903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2282</Words>
  <Application>Microsoft Office PowerPoint</Application>
  <PresentationFormat>Widescreen</PresentationFormat>
  <Paragraphs>193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 10</dc:creator>
  <cp:keywords/>
  <dc:description>generated using python-pptx</dc:description>
  <cp:lastModifiedBy>WIN 10</cp:lastModifiedBy>
  <cp:revision>2</cp:revision>
  <dcterms:created xsi:type="dcterms:W3CDTF">2013-01-27T09:14:16Z</dcterms:created>
  <dcterms:modified xsi:type="dcterms:W3CDTF">2026-06-05T12:28:15Z</dcterms:modified>
  <cp:category/>
</cp:coreProperties>
</file>